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èle ouedraogo" userId="f6880898f78a2e02" providerId="LiveId" clId="{852AC8E4-BE73-4C3D-A599-82936BBB4ECE}"/>
    <pc:docChg chg="undo custSel modSld">
      <pc:chgData name="Adèle ouedraogo" userId="f6880898f78a2e02" providerId="LiveId" clId="{852AC8E4-BE73-4C3D-A599-82936BBB4ECE}" dt="2026-03-21T20:35:29.060" v="707" actId="20577"/>
      <pc:docMkLst>
        <pc:docMk/>
      </pc:docMkLst>
      <pc:sldChg chg="addSp delSp modSp mod">
        <pc:chgData name="Adèle ouedraogo" userId="f6880898f78a2e02" providerId="LiveId" clId="{852AC8E4-BE73-4C3D-A599-82936BBB4ECE}" dt="2026-03-21T20:32:57.686" v="244" actId="20577"/>
        <pc:sldMkLst>
          <pc:docMk/>
          <pc:sldMk cId="0" sldId="256"/>
        </pc:sldMkLst>
        <pc:spChg chg="mod">
          <ac:chgData name="Adèle ouedraogo" userId="f6880898f78a2e02" providerId="LiveId" clId="{852AC8E4-BE73-4C3D-A599-82936BBB4ECE}" dt="2026-03-21T20:32:33.096" v="155" actId="20577"/>
          <ac:spMkLst>
            <pc:docMk/>
            <pc:sldMk cId="0" sldId="256"/>
            <ac:spMk id="18" creationId="{00000000-0000-0000-0000-000000000000}"/>
          </ac:spMkLst>
        </pc:spChg>
        <pc:spChg chg="add del mod">
          <ac:chgData name="Adèle ouedraogo" userId="f6880898f78a2e02" providerId="LiveId" clId="{852AC8E4-BE73-4C3D-A599-82936BBB4ECE}" dt="2026-03-21T20:32:49.082" v="158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Adèle ouedraogo" userId="f6880898f78a2e02" providerId="LiveId" clId="{852AC8E4-BE73-4C3D-A599-82936BBB4ECE}" dt="2026-03-21T20:32:57.686" v="244" actId="20577"/>
          <ac:spMkLst>
            <pc:docMk/>
            <pc:sldMk cId="0" sldId="256"/>
            <ac:spMk id="28" creationId="{00000000-0000-0000-0000-000000000000}"/>
          </ac:spMkLst>
        </pc:spChg>
      </pc:sldChg>
      <pc:sldChg chg="modSp mod">
        <pc:chgData name="Adèle ouedraogo" userId="f6880898f78a2e02" providerId="LiveId" clId="{852AC8E4-BE73-4C3D-A599-82936BBB4ECE}" dt="2026-03-21T20:33:24.572" v="336" actId="20577"/>
        <pc:sldMkLst>
          <pc:docMk/>
          <pc:sldMk cId="0" sldId="257"/>
        </pc:sldMkLst>
        <pc:spChg chg="mod">
          <ac:chgData name="Adèle ouedraogo" userId="f6880898f78a2e02" providerId="LiveId" clId="{852AC8E4-BE73-4C3D-A599-82936BBB4ECE}" dt="2026-03-21T20:33:24.572" v="336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Adèle ouedraogo" userId="f6880898f78a2e02" providerId="LiveId" clId="{852AC8E4-BE73-4C3D-A599-82936BBB4ECE}" dt="2026-03-21T20:33:08.142" v="322" actId="20577"/>
          <ac:spMkLst>
            <pc:docMk/>
            <pc:sldMk cId="0" sldId="257"/>
            <ac:spMk id="78" creationId="{00000000-0000-0000-0000-000000000000}"/>
          </ac:spMkLst>
        </pc:spChg>
      </pc:sldChg>
      <pc:sldChg chg="modSp mod">
        <pc:chgData name="Adèle ouedraogo" userId="f6880898f78a2e02" providerId="LiveId" clId="{852AC8E4-BE73-4C3D-A599-82936BBB4ECE}" dt="2026-03-21T20:33:43.123" v="422" actId="20577"/>
        <pc:sldMkLst>
          <pc:docMk/>
          <pc:sldMk cId="0" sldId="258"/>
        </pc:sldMkLst>
        <pc:spChg chg="mod">
          <ac:chgData name="Adèle ouedraogo" userId="f6880898f78a2e02" providerId="LiveId" clId="{852AC8E4-BE73-4C3D-A599-82936BBB4ECE}" dt="2026-03-21T20:33:31.810" v="344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Adèle ouedraogo" userId="f6880898f78a2e02" providerId="LiveId" clId="{852AC8E4-BE73-4C3D-A599-82936BBB4ECE}" dt="2026-03-21T20:33:43.123" v="422" actId="20577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Adèle ouedraogo" userId="f6880898f78a2e02" providerId="LiveId" clId="{852AC8E4-BE73-4C3D-A599-82936BBB4ECE}" dt="2026-03-21T20:34:03.646" v="508" actId="20577"/>
        <pc:sldMkLst>
          <pc:docMk/>
          <pc:sldMk cId="0" sldId="259"/>
        </pc:sldMkLst>
        <pc:spChg chg="mod">
          <ac:chgData name="Adèle ouedraogo" userId="f6880898f78a2e02" providerId="LiveId" clId="{852AC8E4-BE73-4C3D-A599-82936BBB4ECE}" dt="2026-03-21T20:34:03.646" v="508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Adèle ouedraogo" userId="f6880898f78a2e02" providerId="LiveId" clId="{852AC8E4-BE73-4C3D-A599-82936BBB4ECE}" dt="2026-03-21T20:33:55.212" v="500" actId="20577"/>
          <ac:spMkLst>
            <pc:docMk/>
            <pc:sldMk cId="0" sldId="259"/>
            <ac:spMk id="37" creationId="{00000000-0000-0000-0000-000000000000}"/>
          </ac:spMkLst>
        </pc:spChg>
      </pc:sldChg>
      <pc:sldChg chg="modSp mod">
        <pc:chgData name="Adèle ouedraogo" userId="f6880898f78a2e02" providerId="LiveId" clId="{852AC8E4-BE73-4C3D-A599-82936BBB4ECE}" dt="2026-03-21T20:34:26.647" v="594" actId="20577"/>
        <pc:sldMkLst>
          <pc:docMk/>
          <pc:sldMk cId="0" sldId="260"/>
        </pc:sldMkLst>
        <pc:spChg chg="mod">
          <ac:chgData name="Adèle ouedraogo" userId="f6880898f78a2e02" providerId="LiveId" clId="{852AC8E4-BE73-4C3D-A599-82936BBB4ECE}" dt="2026-03-21T20:34:16.624" v="516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Adèle ouedraogo" userId="f6880898f78a2e02" providerId="LiveId" clId="{852AC8E4-BE73-4C3D-A599-82936BBB4ECE}" dt="2026-03-21T20:34:26.647" v="594" actId="20577"/>
          <ac:spMkLst>
            <pc:docMk/>
            <pc:sldMk cId="0" sldId="260"/>
            <ac:spMk id="37" creationId="{00000000-0000-0000-0000-000000000000}"/>
          </ac:spMkLst>
        </pc:spChg>
      </pc:sldChg>
      <pc:sldChg chg="modSp mod">
        <pc:chgData name="Adèle ouedraogo" userId="f6880898f78a2e02" providerId="LiveId" clId="{852AC8E4-BE73-4C3D-A599-82936BBB4ECE}" dt="2026-03-21T20:35:29.060" v="707" actId="20577"/>
        <pc:sldMkLst>
          <pc:docMk/>
          <pc:sldMk cId="0" sldId="261"/>
        </pc:sldMkLst>
        <pc:spChg chg="mod">
          <ac:chgData name="Adèle ouedraogo" userId="f6880898f78a2e02" providerId="LiveId" clId="{852AC8E4-BE73-4C3D-A599-82936BBB4ECE}" dt="2026-03-21T20:35:29.060" v="707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Adèle ouedraogo" userId="f6880898f78a2e02" providerId="LiveId" clId="{852AC8E4-BE73-4C3D-A599-82936BBB4ECE}" dt="2026-03-21T20:34:45.018" v="596" actId="1076"/>
          <ac:spMkLst>
            <pc:docMk/>
            <pc:sldMk cId="0" sldId="261"/>
            <ac:spMk id="37" creationId="{00000000-0000-0000-0000-000000000000}"/>
          </ac:spMkLst>
        </pc:spChg>
        <pc:spChg chg="mod">
          <ac:chgData name="Adèle ouedraogo" userId="f6880898f78a2e02" providerId="LiveId" clId="{852AC8E4-BE73-4C3D-A599-82936BBB4ECE}" dt="2026-03-21T20:34:55.712" v="674" actId="20577"/>
          <ac:spMkLst>
            <pc:docMk/>
            <pc:sldMk cId="0" sldId="261"/>
            <ac:spMk id="3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419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8942832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766560" y="365760"/>
            <a:ext cx="2103120" cy="347472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995160" y="640080"/>
            <a:ext cx="292608" cy="292608"/>
          </a:xfrm>
          <a:prstGeom prst="rect">
            <a:avLst/>
          </a:prstGeom>
          <a:solidFill>
            <a:srgbClr val="0097A7">
              <a:alpha val="80000"/>
            </a:srgbClr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498080" y="640080"/>
            <a:ext cx="292608" cy="292608"/>
          </a:xfrm>
          <a:prstGeom prst="rect">
            <a:avLst/>
          </a:prstGeom>
          <a:solidFill>
            <a:srgbClr val="0097A7">
              <a:alpha val="80000"/>
            </a:srgbClr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001000" y="640080"/>
            <a:ext cx="292608" cy="292608"/>
          </a:xfrm>
          <a:prstGeom prst="rect">
            <a:avLst/>
          </a:prstGeom>
          <a:solidFill>
            <a:srgbClr val="0097A7">
              <a:alpha val="80000"/>
            </a:srgbClr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995160" y="1234440"/>
            <a:ext cx="292608" cy="292608"/>
          </a:xfrm>
          <a:prstGeom prst="rect">
            <a:avLst/>
          </a:prstGeom>
          <a:solidFill>
            <a:srgbClr val="0097A7">
              <a:alpha val="80000"/>
            </a:srgbClr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7498080" y="1234440"/>
            <a:ext cx="292608" cy="292608"/>
          </a:xfrm>
          <a:prstGeom prst="rect">
            <a:avLst/>
          </a:prstGeom>
          <a:solidFill>
            <a:srgbClr val="0097A7">
              <a:alpha val="80000"/>
            </a:srgbClr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8001000" y="1234440"/>
            <a:ext cx="292608" cy="292608"/>
          </a:xfrm>
          <a:prstGeom prst="rect">
            <a:avLst/>
          </a:prstGeom>
          <a:solidFill>
            <a:srgbClr val="0097A7">
              <a:alpha val="80000"/>
            </a:srgbClr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995160" y="1828800"/>
            <a:ext cx="292608" cy="292608"/>
          </a:xfrm>
          <a:prstGeom prst="rect">
            <a:avLst/>
          </a:prstGeom>
          <a:solidFill>
            <a:srgbClr val="0097A7">
              <a:alpha val="80000"/>
            </a:srgbClr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498080" y="1828800"/>
            <a:ext cx="292608" cy="292608"/>
          </a:xfrm>
          <a:prstGeom prst="rect">
            <a:avLst/>
          </a:prstGeom>
          <a:solidFill>
            <a:srgbClr val="0097A7">
              <a:alpha val="80000"/>
            </a:srgbClr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001000" y="1828800"/>
            <a:ext cx="292608" cy="292608"/>
          </a:xfrm>
          <a:prstGeom prst="rect">
            <a:avLst/>
          </a:prstGeom>
          <a:solidFill>
            <a:srgbClr val="0097A7">
              <a:alpha val="80000"/>
            </a:srgbClr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7360920" y="2560320"/>
            <a:ext cx="914400" cy="1280160"/>
          </a:xfrm>
          <a:prstGeom prst="rect">
            <a:avLst/>
          </a:prstGeom>
          <a:solidFill>
            <a:srgbClr val="0097A7">
              <a:alpha val="60000"/>
            </a:srgbClr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5029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System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57200" y="157276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097A7"/>
                </a:solidFill>
              </a:rPr>
              <a:t>Relational Database Design &amp; Implementation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2121408"/>
            <a:ext cx="50292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6035040" cy="1417320"/>
          </a:xfrm>
          <a:prstGeom prst="rect">
            <a:avLst/>
          </a:prstGeom>
          <a:solidFill>
            <a:srgbClr val="1565C0">
              <a:alpha val="15000"/>
            </a:srgbClr>
          </a:solidFill>
          <a:ln w="1016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94360" y="27432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</a:rPr>
              <a:t>Group Members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0358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YAMEOGO Claudine (Déléguée)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33558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TRAORE Aminata Jannine Esmelle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36758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DEHOUMON Christelle Alvine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11880" y="30358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OUEDRAOGO Adèle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11880" y="33558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KAGAMBEGA Saturnin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11880" y="36758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ZABRE Yenderima Elvine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809744"/>
            <a:ext cx="9144000" cy="342900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1565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8" name="Text 26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Scenario Overview — Entities &amp; Relationships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67512"/>
            <a:ext cx="859536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66751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The Hotel Booking System manages guests, rooms, reservations, services and invoices — all in a fully normalized relational database.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11480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1887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7 Entities — Primary Keys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4114800" cy="429768"/>
          </a:xfrm>
          <a:prstGeom prst="rect">
            <a:avLst/>
          </a:prstGeom>
          <a:solidFill>
            <a:srgbClr val="ECEFF1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1115568" cy="4297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01752" y="1508760"/>
            <a:ext cx="10607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guests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26464" y="1508760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A825"/>
                </a:solidFill>
              </a:rPr>
              <a:t>guest_id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60320" y="1508760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Hotel guests / customers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975104"/>
            <a:ext cx="4114800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1975104"/>
            <a:ext cx="1115568" cy="4297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01752" y="1975104"/>
            <a:ext cx="10607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room_types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26464" y="1975104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A825"/>
                </a:solidFill>
              </a:rPr>
              <a:t>type_id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60320" y="1975104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Room categories + price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441448"/>
            <a:ext cx="4114800" cy="429768"/>
          </a:xfrm>
          <a:prstGeom prst="rect">
            <a:avLst/>
          </a:prstGeom>
          <a:solidFill>
            <a:srgbClr val="ECEFF1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2441448"/>
            <a:ext cx="1115568" cy="4297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01752" y="2441448"/>
            <a:ext cx="10607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rooms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426464" y="2441448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A825"/>
                </a:solidFill>
              </a:rPr>
              <a:t>room_id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60320" y="2441448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Individual physical rooms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907792"/>
            <a:ext cx="4114800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4320" y="2907792"/>
            <a:ext cx="1115568" cy="4297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01752" y="2907792"/>
            <a:ext cx="10607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bookings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426464" y="2907792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A825"/>
                </a:solidFill>
              </a:rPr>
              <a:t>booking_id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60320" y="2907792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Reservation records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374136"/>
            <a:ext cx="4114800" cy="429768"/>
          </a:xfrm>
          <a:prstGeom prst="rect">
            <a:avLst/>
          </a:prstGeom>
          <a:solidFill>
            <a:srgbClr val="ECEFF1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3374136"/>
            <a:ext cx="1115568" cy="4297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01752" y="3374136"/>
            <a:ext cx="10607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services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426464" y="3374136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A825"/>
                </a:solidFill>
              </a:rPr>
              <a:t>service_id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60320" y="3374136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Extra services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840480"/>
            <a:ext cx="4114800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274320" y="3840480"/>
            <a:ext cx="1115568" cy="4297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01752" y="3840480"/>
            <a:ext cx="10607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invoices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426464" y="3840480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A825"/>
                </a:solidFill>
              </a:rPr>
              <a:t>invoice_id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560320" y="3840480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Financial invoices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4306824"/>
            <a:ext cx="4114800" cy="429768"/>
          </a:xfrm>
          <a:prstGeom prst="rect">
            <a:avLst/>
          </a:prstGeom>
          <a:solidFill>
            <a:srgbClr val="ECEFF1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274320" y="4306824"/>
            <a:ext cx="1115568" cy="4297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01752" y="4306824"/>
            <a:ext cx="10607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booking_services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426464" y="4306824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A825"/>
                </a:solidFill>
              </a:rPr>
              <a:t>bs_id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560320" y="4306824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Junction table M:N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09160" y="1188720"/>
            <a:ext cx="4160520" cy="2926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709160" y="118872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 Relationships — Foreign Keys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09160" y="1508760"/>
            <a:ext cx="4160520" cy="585216"/>
          </a:xfrm>
          <a:prstGeom prst="rect">
            <a:avLst/>
          </a:prstGeom>
          <a:solidFill>
            <a:srgbClr val="ECEFF1"/>
          </a:solidFill>
          <a:ln w="1016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4709160" y="1508760"/>
            <a:ext cx="73152" cy="5852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8138160" y="1655064"/>
            <a:ext cx="658368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8138160" y="165506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1:M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46320" y="1545336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</a:rPr>
              <a:t>room_types → rooms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46320" y="1837944"/>
            <a:ext cx="3218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</a:rPr>
              <a:t>FK: rooms.type_id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09160" y="2167128"/>
            <a:ext cx="4160520" cy="585216"/>
          </a:xfrm>
          <a:prstGeom prst="rect">
            <a:avLst/>
          </a:prstGeom>
          <a:solidFill>
            <a:srgbClr val="ECEFF1"/>
          </a:solidFill>
          <a:ln w="1016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4709160" y="2167128"/>
            <a:ext cx="73152" cy="5852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8138160" y="2313432"/>
            <a:ext cx="658368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8138160" y="231343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1:M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846320" y="2203704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</a:rPr>
              <a:t>guests → bookings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846320" y="2496312"/>
            <a:ext cx="3218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</a:rPr>
              <a:t>FK: bookings.guest_id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09160" y="2825496"/>
            <a:ext cx="4160520" cy="585216"/>
          </a:xfrm>
          <a:prstGeom prst="rect">
            <a:avLst/>
          </a:prstGeom>
          <a:solidFill>
            <a:srgbClr val="ECEFF1"/>
          </a:solidFill>
          <a:ln w="1016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4709160" y="2825496"/>
            <a:ext cx="73152" cy="5852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8138160" y="2971800"/>
            <a:ext cx="658368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8138160" y="297180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1:M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846320" y="2862072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</a:rPr>
              <a:t>rooms → bookings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846320" y="3154680"/>
            <a:ext cx="3218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</a:rPr>
              <a:t>FK: bookings.room_id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09160" y="3483864"/>
            <a:ext cx="4160520" cy="585216"/>
          </a:xfrm>
          <a:prstGeom prst="rect">
            <a:avLst/>
          </a:prstGeom>
          <a:solidFill>
            <a:srgbClr val="ECEFF1"/>
          </a:solidFill>
          <a:ln w="10160">
            <a:solidFill>
              <a:srgbClr val="0097A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4709160" y="3483864"/>
            <a:ext cx="73152" cy="58521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8138160" y="3630168"/>
            <a:ext cx="658368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8138160" y="36301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1:1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846320" y="3520440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</a:rPr>
              <a:t>bookings ↔ invoices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846320" y="3813048"/>
            <a:ext cx="3218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</a:rPr>
              <a:t>FK: invoices.booking_id UNIQUE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709160" y="4142232"/>
            <a:ext cx="4160520" cy="585216"/>
          </a:xfrm>
          <a:prstGeom prst="rect">
            <a:avLst/>
          </a:prstGeom>
          <a:solidFill>
            <a:srgbClr val="ECEFF1"/>
          </a:solidFill>
          <a:ln w="10160">
            <a:solidFill>
              <a:srgbClr val="0D213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4709160" y="4142232"/>
            <a:ext cx="73152" cy="58521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8138160" y="4288536"/>
            <a:ext cx="658368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8138160" y="428853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M:N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846320" y="4178808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</a:rPr>
              <a:t>bookings ↔ services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4846320" y="4471416"/>
            <a:ext cx="3218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</a:rPr>
              <a:t>FK: via booking_services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274320" y="4937760"/>
            <a:ext cx="7772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909C"/>
                </a:solidFill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Schema Diagram — Entity Relationship Diagram (ERD)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6" name="Image 0" descr="/home/claude/hotel_booking_project/schema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8368"/>
            <a:ext cx="859536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36592"/>
            <a:ext cx="9144000" cy="201168"/>
          </a:xfrm>
          <a:prstGeom prst="rect">
            <a:avLst/>
          </a:prstGeom>
          <a:solidFill>
            <a:srgbClr val="0D2137">
              <a:alpha val="80000"/>
            </a:srgbClr>
          </a:solidFill>
          <a:ln w="12700">
            <a:solidFill>
              <a:srgbClr val="0D213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274320" y="473659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PK = Primary Key  |  FK = Foreign Key  |  NN = Not Null  |  E = ENUM  |  Generated with dbdiagram.io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274320" y="4937760"/>
            <a:ext cx="7772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909C"/>
                </a:solidFill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Normalization Walkthrough — UNF → 1NF → 2NF → 3NF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59536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UNF — Starting point (one large unnormalized table)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solidFill>
            <a:srgbClr val="ECEFF1"/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37E"/>
                </a:solidFill>
              </a:rPr>
              <a:t>Booking(booking_id, guest_name, guest_email, guest_phone, room_number, room_type, price_per_night, check_in, check_out, total_amount, services_used, invoice_total, paid)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444752"/>
            <a:ext cx="2743200" cy="3291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144475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1NF Violation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773936"/>
            <a:ext cx="2743200" cy="2578608"/>
          </a:xfrm>
          <a:prstGeom prst="rect">
            <a:avLst/>
          </a:prstGeom>
          <a:solidFill>
            <a:srgbClr val="ECEFF1"/>
          </a:solidFill>
          <a:ln w="1016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1773936"/>
            <a:ext cx="2743200" cy="256032"/>
          </a:xfrm>
          <a:prstGeom prst="rect">
            <a:avLst/>
          </a:prstGeom>
          <a:solidFill>
            <a:srgbClr val="C62828">
              <a:alpha val="20000"/>
            </a:srgbClr>
          </a:solidFill>
          <a:ln w="12700">
            <a:solidFill>
              <a:srgbClr val="C6282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47472" y="1773936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</a:rPr>
              <a:t>services_used is multi-valued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066544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</a:rPr>
              <a:t>A guest can use Breakfast + Spa + Shuttle in one booking. Storing them as a comma-separated string violates atomicity — each cell must hold one value only.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182112"/>
            <a:ext cx="2651760" cy="201168"/>
          </a:xfrm>
          <a:prstGeom prst="rect">
            <a:avLst/>
          </a:prstGeom>
          <a:solidFill>
            <a:srgbClr val="C62828">
              <a:alpha val="15000"/>
            </a:srgbClr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5760" y="3218688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A237E"/>
                </a:solidFill>
              </a:rPr>
              <a:t>Fix → Create booking_services junction table: each service becomes a separate row with its own quantity.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72968" y="1444752"/>
            <a:ext cx="2743200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172968" y="144475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2NF Violation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72968" y="1773936"/>
            <a:ext cx="2743200" cy="2578608"/>
          </a:xfrm>
          <a:prstGeom prst="rect">
            <a:avLst/>
          </a:prstGeom>
          <a:solidFill>
            <a:srgbClr val="ECEFF1"/>
          </a:solidFill>
          <a:ln w="1016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172968" y="1773936"/>
            <a:ext cx="2743200" cy="256032"/>
          </a:xfrm>
          <a:prstGeom prst="rect">
            <a:avLst/>
          </a:prstGeom>
          <a:solidFill>
            <a:srgbClr val="E65100">
              <a:alpha val="20000"/>
            </a:srgbClr>
          </a:solidFill>
          <a:ln w="12700">
            <a:solidFill>
              <a:srgbClr val="E651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246120" y="1773936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5100"/>
                </a:solidFill>
              </a:rPr>
              <a:t>Partial dependency on composite key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64408" y="2066544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</a:rPr>
              <a:t>With composite key (booking_id, service_id), guest_email depends only on booking_id — not the full key. This partial dependency duplicates guest data for every service used.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18688" y="3182112"/>
            <a:ext cx="2651760" cy="201168"/>
          </a:xfrm>
          <a:prstGeom prst="rect">
            <a:avLst/>
          </a:prstGeom>
          <a:solidFill>
            <a:srgbClr val="E65100">
              <a:alpha val="15000"/>
            </a:srgbClr>
          </a:solidFill>
          <a:ln w="63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64408" y="3218688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A237E"/>
                </a:solidFill>
              </a:rPr>
              <a:t>Fix → Separate guests, bookings, services into independent tables. Each FK reference eliminates duplication.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71616" y="1444752"/>
            <a:ext cx="274320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071616" y="144475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3NF Violation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71616" y="1773936"/>
            <a:ext cx="2743200" cy="2578608"/>
          </a:xfrm>
          <a:prstGeom prst="rect">
            <a:avLst/>
          </a:prstGeom>
          <a:solidFill>
            <a:srgbClr val="ECEFF1"/>
          </a:solidFill>
          <a:ln w="1016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071616" y="1773936"/>
            <a:ext cx="2743200" cy="256032"/>
          </a:xfrm>
          <a:prstGeom prst="rect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144768" y="1773936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Transitive dependency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63056" y="2066544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</a:rPr>
              <a:t>price_per_night depends on room_type, not on room_id directly. Chain: room_id → room_type → price_per_night. Price is duplicated for every Standard room.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17336" y="3182112"/>
            <a:ext cx="2651760" cy="201168"/>
          </a:xfrm>
          <a:prstGeom prst="rect">
            <a:avLst/>
          </a:prstGeom>
          <a:solidFill>
            <a:srgbClr val="2E7D32">
              <a:alpha val="15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163056" y="3218688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A237E"/>
                </a:solidFill>
              </a:rPr>
              <a:t>Fix → Extract room_types table. rooms.type_id (FK) references it. Price stored once per type — never duplicated.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schema is in 3NF — every non-key attribute depends on the whole key and nothing but the key 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74320" y="4937760"/>
            <a:ext cx="7772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909C"/>
                </a:solidFill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Design Decisions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06240" cy="1261872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91440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4114800" cy="347472"/>
          </a:xfrm>
          <a:prstGeom prst="rect">
            <a:avLst/>
          </a:prstGeom>
          <a:solidFill>
            <a:srgbClr val="1565C0">
              <a:alpha val="10000"/>
            </a:srgbClr>
          </a:solidFill>
          <a:ln w="12700">
            <a:solidFill>
              <a:srgbClr val="1565C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ENUM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13385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rooms.status: available / occupied / maintenance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bookings.status: confirmed / cancelled / completed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→ Database rejects any invalid value automatically.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206240" cy="1261872"/>
          </a:xfrm>
          <a:prstGeom prst="rect">
            <a:avLst/>
          </a:prstGeom>
          <a:solidFill>
            <a:srgbClr val="ECEFF1"/>
          </a:solidFill>
          <a:ln w="12700">
            <a:solidFill>
              <a:srgbClr val="0097A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09160" y="749808"/>
            <a:ext cx="91440" cy="12618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00600" y="749808"/>
            <a:ext cx="4114800" cy="347472"/>
          </a:xfrm>
          <a:prstGeom prst="rect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92040" y="7498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A7"/>
                </a:solidFill>
              </a:rPr>
              <a:t>ON DELETE RESTRICT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13385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Applied on guests→bookings and rooms→bookings.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→ Prevents deleting a guest or room that still has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   active bookings. Protects data integrity.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121408"/>
            <a:ext cx="4206240" cy="1261872"/>
          </a:xfrm>
          <a:prstGeom prst="rect">
            <a:avLst/>
          </a:prstGeom>
          <a:solidFill>
            <a:srgbClr val="ECEFF1"/>
          </a:solidFill>
          <a:ln w="12700">
            <a:solidFill>
              <a:srgbClr val="0D213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121408"/>
            <a:ext cx="91440" cy="12618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4114800" cy="347472"/>
          </a:xfrm>
          <a:prstGeom prst="rect">
            <a:avLst/>
          </a:prstGeom>
          <a:solidFill>
            <a:srgbClr val="0D2137">
              <a:alpha val="10000"/>
            </a:srgbClr>
          </a:solidFill>
          <a:ln w="12700">
            <a:solidFill>
              <a:srgbClr val="0D213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21214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ON DELETE CASCADE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50545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Applied only on booking_services.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→ If a booking is deleted, all its linked services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   are removed automatically. No orphan rows.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121408"/>
            <a:ext cx="4206240" cy="1261872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709160" y="2121408"/>
            <a:ext cx="91440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800600" y="2121408"/>
            <a:ext cx="4114800" cy="347472"/>
          </a:xfrm>
          <a:prstGeom prst="rect">
            <a:avLst/>
          </a:prstGeom>
          <a:solidFill>
            <a:srgbClr val="1565C0">
              <a:alpha val="10000"/>
            </a:srgbClr>
          </a:solidFill>
          <a:ln w="12700">
            <a:solidFill>
              <a:srgbClr val="1565C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92040" y="21214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ON UPDATE CASCADE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50545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Applied on all foreign keys.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→ If a primary key changes, all referencing rows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   update automatically. No broken references.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493008"/>
            <a:ext cx="4206240" cy="1261872"/>
          </a:xfrm>
          <a:prstGeom prst="rect">
            <a:avLst/>
          </a:prstGeom>
          <a:solidFill>
            <a:srgbClr val="ECEFF1"/>
          </a:solidFill>
          <a:ln w="12700">
            <a:solidFill>
              <a:srgbClr val="0097A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274320" y="3493008"/>
            <a:ext cx="91440" cy="12618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65760" y="3493008"/>
            <a:ext cx="4114800" cy="347472"/>
          </a:xfrm>
          <a:prstGeom prst="rect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34930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A7"/>
                </a:solidFill>
              </a:rPr>
              <a:t>DECIMAL(10,2)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87705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Used for price_per_night, total_amount, total_due,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unit_price.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→ Avoids floating-point errors in monetary values.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493008"/>
            <a:ext cx="4206240" cy="1261872"/>
          </a:xfrm>
          <a:prstGeom prst="rect">
            <a:avLst/>
          </a:prstGeom>
          <a:solidFill>
            <a:srgbClr val="ECEFF1"/>
          </a:solidFill>
          <a:ln w="12700">
            <a:solidFill>
              <a:srgbClr val="0D213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709160" y="3493008"/>
            <a:ext cx="91440" cy="12618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800600" y="3493008"/>
            <a:ext cx="4114800" cy="347472"/>
          </a:xfrm>
          <a:prstGeom prst="rect">
            <a:avLst/>
          </a:prstGeom>
          <a:solidFill>
            <a:srgbClr val="0D2137">
              <a:alpha val="10000"/>
            </a:srgbClr>
          </a:solidFill>
          <a:ln w="12700">
            <a:solidFill>
              <a:srgbClr val="0D213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892040" y="34930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UNIQUE on booking_id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87705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In the invoices table.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→ Enforces the strict 1:1 relationship between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</a:rPr>
              <a:t>   one booking and exactly one invoice.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74320" y="4937760"/>
            <a:ext cx="7772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909C"/>
                </a:solidFill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59436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Most Complex Query — Revenue Report per Room Type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4206240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SQL Code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206240" cy="3493008"/>
          </a:xfrm>
          <a:prstGeom prst="rect">
            <a:avLst/>
          </a:prstGeom>
          <a:solidFill>
            <a:srgbClr val="061525"/>
          </a:solidFill>
          <a:ln w="762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84048" y="100584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rt.type_name,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COUNT(b.booking_id)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AS total_bookings,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SUM(b.total_amount)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AS total_revenue,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AVG(b.total_amount)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AS avg_booking_value,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MAX(b.total_amount)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AS highest_booking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room_types 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rooms 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rt.type_id = r.type_id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bookings 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r.room_id = b.room_id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rt.type_name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SUM(b.total_amount)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 200000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total_revenue DESC;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685800"/>
            <a:ext cx="42062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09160" y="6858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it is the most complex query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206240" cy="603504"/>
          </a:xfrm>
          <a:prstGeom prst="rect">
            <a:avLst/>
          </a:prstGeom>
          <a:solidFill>
            <a:srgbClr val="112233"/>
          </a:solidFill>
          <a:ln w="508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329184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09160" y="1005840"/>
            <a:ext cx="329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84064" y="1042416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</a:rPr>
              <a:t>3 tables joined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84064" y="129844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CCEE"/>
                </a:solidFill>
              </a:rPr>
              <a:t>room_types → rooms → bookings using 2 INNER JOINs. Each JOIN adds a condition that must match — the engine processes all three tables together.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1682496"/>
            <a:ext cx="4206240" cy="603504"/>
          </a:xfrm>
          <a:prstGeom prst="rect">
            <a:avLst/>
          </a:prstGeom>
          <a:solidFill>
            <a:srgbClr val="112233"/>
          </a:solidFill>
          <a:ln w="508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709160" y="1682496"/>
            <a:ext cx="329184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709160" y="1682496"/>
            <a:ext cx="329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84064" y="1719072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</a:rPr>
              <a:t>5 aggregate functions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84064" y="1975104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CCEE"/>
                </a:solidFill>
              </a:rPr>
              <a:t>COUNT, SUM, AVG, MAX all computed in one single query. Each function calculates a different statistic on the same grouped data.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2359152"/>
            <a:ext cx="4206240" cy="603504"/>
          </a:xfrm>
          <a:prstGeom prst="rect">
            <a:avLst/>
          </a:prstGeom>
          <a:solidFill>
            <a:srgbClr val="112233"/>
          </a:solidFill>
          <a:ln w="508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709160" y="2359152"/>
            <a:ext cx="329184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709160" y="2359152"/>
            <a:ext cx="329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84064" y="2395728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</a:rPr>
              <a:t>GROUP BY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2651760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CCEE"/>
                </a:solidFill>
              </a:rPr>
              <a:t>Results are grouped by rt.type_name. All bookings of the same room type are collapsed into one summary row.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3035808"/>
            <a:ext cx="4206240" cy="603504"/>
          </a:xfrm>
          <a:prstGeom prst="rect">
            <a:avLst/>
          </a:prstGeom>
          <a:solidFill>
            <a:srgbClr val="112233"/>
          </a:solidFill>
          <a:ln w="508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709160" y="3035808"/>
            <a:ext cx="329184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09160" y="3035808"/>
            <a:ext cx="329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84064" y="3072384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</a:rPr>
              <a:t>HAVING &gt; 200 000 FCFA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84064" y="3328416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CCEE"/>
                </a:solidFill>
              </a:rPr>
              <a:t>Filters AFTER grouping — only room types whose total revenue exceeds 200,000 FCFA appear. WHERE cannot filter on aggregates; HAVING can.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3712464"/>
            <a:ext cx="4206240" cy="603504"/>
          </a:xfrm>
          <a:prstGeom prst="rect">
            <a:avLst/>
          </a:prstGeom>
          <a:solidFill>
            <a:srgbClr val="112233"/>
          </a:solidFill>
          <a:ln w="508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709160" y="3712464"/>
            <a:ext cx="329184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09160" y="3712464"/>
            <a:ext cx="329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84064" y="3749040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</a:rPr>
              <a:t>ORDER BY DESC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84064" y="4005072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CCEE"/>
                </a:solidFill>
              </a:rPr>
              <a:t>Final results sorted from highest to lowest revenue, making the report immediately readable for business analysis.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37160" y="4805172"/>
            <a:ext cx="9006840" cy="342900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1565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8" name="Text 36"/>
          <p:cNvSpPr/>
          <p:nvPr/>
        </p:nvSpPr>
        <p:spPr>
          <a:xfrm>
            <a:off x="274320" y="4818888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21040" y="4937760"/>
            <a:ext cx="7315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909C"/>
                </a:solidFill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998</Words>
  <Application>Microsoft Office PowerPoint</Application>
  <PresentationFormat>On-screen Show (16:9)</PresentationFormat>
  <Paragraphs>140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System — CS27</dc:title>
  <dc:subject>PptxGenJS Presentation</dc:subject>
  <dc:creator>PptxGenJS</dc:creator>
  <cp:lastModifiedBy>Adèle ouedraogo</cp:lastModifiedBy>
  <cp:revision>1</cp:revision>
  <dcterms:created xsi:type="dcterms:W3CDTF">2026-03-21T14:03:23Z</dcterms:created>
  <dcterms:modified xsi:type="dcterms:W3CDTF">2026-03-21T20:35:30Z</dcterms:modified>
</cp:coreProperties>
</file>